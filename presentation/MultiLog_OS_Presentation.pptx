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 Sirpuri" userId="664aaa313c1f5cfc" providerId="LiveId" clId="{3B10A5D7-0E2D-494A-8D6B-4F83A0972900}"/>
    <pc:docChg chg="custSel modSld">
      <pc:chgData name="Harshith Sirpuri" userId="664aaa313c1f5cfc" providerId="LiveId" clId="{3B10A5D7-0E2D-494A-8D6B-4F83A0972900}" dt="2026-10-17T05:05:01.558" v="165" actId="20577"/>
      <pc:docMkLst>
        <pc:docMk/>
      </pc:docMkLst>
      <pc:sldChg chg="modSp mod">
        <pc:chgData name="Harshith Sirpuri" userId="664aaa313c1f5cfc" providerId="LiveId" clId="{3B10A5D7-0E2D-494A-8D6B-4F83A0972900}" dt="2026-10-17T05:05:01.558" v="165" actId="20577"/>
        <pc:sldMkLst>
          <pc:docMk/>
          <pc:sldMk cId="0" sldId="256"/>
        </pc:sldMkLst>
        <pc:spChg chg="mod">
          <ac:chgData name="Harshith Sirpuri" userId="664aaa313c1f5cfc" providerId="LiveId" clId="{3B10A5D7-0E2D-494A-8D6B-4F83A0972900}" dt="2026-10-17T05:05:01.558" v="165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Harshith Sirpuri" userId="664aaa313c1f5cfc" providerId="LiveId" clId="{3B10A5D7-0E2D-494A-8D6B-4F83A0972900}" dt="2026-10-17T04:51:09.299" v="5" actId="20577"/>
        <pc:sldMkLst>
          <pc:docMk/>
          <pc:sldMk cId="0" sldId="257"/>
        </pc:sldMkLst>
        <pc:spChg chg="mod">
          <ac:chgData name="Harshith Sirpuri" userId="664aaa313c1f5cfc" providerId="LiveId" clId="{3B10A5D7-0E2D-494A-8D6B-4F83A0972900}" dt="2026-10-17T04:51:09.299" v="5" actId="20577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Harshith Sirpuri" userId="664aaa313c1f5cfc" providerId="LiveId" clId="{3B10A5D7-0E2D-494A-8D6B-4F83A0972900}" dt="2026-10-17T04:54:28.873" v="20" actId="20577"/>
        <pc:sldMkLst>
          <pc:docMk/>
          <pc:sldMk cId="0" sldId="259"/>
        </pc:sldMkLst>
        <pc:spChg chg="mod">
          <ac:chgData name="Harshith Sirpuri" userId="664aaa313c1f5cfc" providerId="LiveId" clId="{3B10A5D7-0E2D-494A-8D6B-4F83A0972900}" dt="2026-10-17T04:54:28.873" v="20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Harshith Sirpuri" userId="664aaa313c1f5cfc" providerId="LiveId" clId="{3B10A5D7-0E2D-494A-8D6B-4F83A0972900}" dt="2026-10-17T04:54:51.138" v="23" actId="20577"/>
        <pc:sldMkLst>
          <pc:docMk/>
          <pc:sldMk cId="0" sldId="260"/>
        </pc:sldMkLst>
        <pc:spChg chg="mod">
          <ac:chgData name="Harshith Sirpuri" userId="664aaa313c1f5cfc" providerId="LiveId" clId="{3B10A5D7-0E2D-494A-8D6B-4F83A0972900}" dt="2026-10-17T04:54:51.138" v="23" actId="20577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Harshith Sirpuri" userId="664aaa313c1f5cfc" providerId="LiveId" clId="{3B10A5D7-0E2D-494A-8D6B-4F83A0972900}" dt="2026-10-17T04:57:10.970" v="38" actId="20577"/>
        <pc:sldMkLst>
          <pc:docMk/>
          <pc:sldMk cId="0" sldId="261"/>
        </pc:sldMkLst>
        <pc:spChg chg="mod">
          <ac:chgData name="Harshith Sirpuri" userId="664aaa313c1f5cfc" providerId="LiveId" clId="{3B10A5D7-0E2D-494A-8D6B-4F83A0972900}" dt="2026-10-17T04:57:10.970" v="38" actId="20577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Harshith Sirpuri" userId="664aaa313c1f5cfc" providerId="LiveId" clId="{3B10A5D7-0E2D-494A-8D6B-4F83A0972900}" dt="2026-10-17T04:56:56.213" v="36" actId="20577"/>
        <pc:sldMkLst>
          <pc:docMk/>
          <pc:sldMk cId="0" sldId="262"/>
        </pc:sldMkLst>
        <pc:spChg chg="mod">
          <ac:chgData name="Harshith Sirpuri" userId="664aaa313c1f5cfc" providerId="LiveId" clId="{3B10A5D7-0E2D-494A-8D6B-4F83A0972900}" dt="2026-10-17T04:56:56.213" v="36" actId="20577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Harshith Sirpuri" userId="664aaa313c1f5cfc" providerId="LiveId" clId="{3B10A5D7-0E2D-494A-8D6B-4F83A0972900}" dt="2026-10-17T04:56:16.215" v="33" actId="20577"/>
        <pc:sldMkLst>
          <pc:docMk/>
          <pc:sldMk cId="0" sldId="263"/>
        </pc:sldMkLst>
        <pc:spChg chg="mod">
          <ac:chgData name="Harshith Sirpuri" userId="664aaa313c1f5cfc" providerId="LiveId" clId="{3B10A5D7-0E2D-494A-8D6B-4F83A0972900}" dt="2026-10-17T04:56:16.215" v="33" actId="20577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Harshith Sirpuri" userId="664aaa313c1f5cfc" providerId="LiveId" clId="{3B10A5D7-0E2D-494A-8D6B-4F83A0972900}" dt="2026-10-17T04:55:28.748" v="27" actId="20577"/>
        <pc:sldMkLst>
          <pc:docMk/>
          <pc:sldMk cId="0" sldId="267"/>
        </pc:sldMkLst>
        <pc:spChg chg="mod">
          <ac:chgData name="Harshith Sirpuri" userId="664aaa313c1f5cfc" providerId="LiveId" clId="{3B10A5D7-0E2D-494A-8D6B-4F83A0972900}" dt="2026-10-17T04:55:28.748" v="27" actId="20577"/>
          <ac:spMkLst>
            <pc:docMk/>
            <pc:sldMk cId="0" sldId="267"/>
            <ac:spMk id="5" creationId="{00000000-0000-0000-0000-000000000000}"/>
          </ac:spMkLst>
        </pc:spChg>
      </pc:sldChg>
      <pc:sldChg chg="modSp mod">
        <pc:chgData name="Harshith Sirpuri" userId="664aaa313c1f5cfc" providerId="LiveId" clId="{3B10A5D7-0E2D-494A-8D6B-4F83A0972900}" dt="2026-10-17T04:55:57.509" v="31" actId="20577"/>
        <pc:sldMkLst>
          <pc:docMk/>
          <pc:sldMk cId="0" sldId="269"/>
        </pc:sldMkLst>
        <pc:spChg chg="mod">
          <ac:chgData name="Harshith Sirpuri" userId="664aaa313c1f5cfc" providerId="LiveId" clId="{3B10A5D7-0E2D-494A-8D6B-4F83A0972900}" dt="2026-10-17T04:55:57.509" v="31" actId="20577"/>
          <ac:spMkLst>
            <pc:docMk/>
            <pc:sldMk cId="0" sldId="269"/>
            <ac:spMk id="5" creationId="{00000000-0000-0000-0000-000000000000}"/>
          </ac:spMkLst>
        </pc:spChg>
      </pc:sldChg>
      <pc:sldChg chg="modSp mod">
        <pc:chgData name="Harshith Sirpuri" userId="664aaa313c1f5cfc" providerId="LiveId" clId="{3B10A5D7-0E2D-494A-8D6B-4F83A0972900}" dt="2026-10-17T04:55:51.865" v="30" actId="20577"/>
        <pc:sldMkLst>
          <pc:docMk/>
          <pc:sldMk cId="0" sldId="270"/>
        </pc:sldMkLst>
        <pc:spChg chg="mod">
          <ac:chgData name="Harshith Sirpuri" userId="664aaa313c1f5cfc" providerId="LiveId" clId="{3B10A5D7-0E2D-494A-8D6B-4F83A0972900}" dt="2026-10-17T04:55:51.865" v="30" actId="20577"/>
          <ac:spMkLst>
            <pc:docMk/>
            <pc:sldMk cId="0" sldId="270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38BDF8"/>
                </a:solidFill>
              </a:defRPr>
            </a:pPr>
            <a:r>
              <a:rPr dirty="0" err="1"/>
              <a:t>MultiLog</a:t>
            </a:r>
            <a:r>
              <a:rPr dirty="0"/>
              <a:t>-OS</a:t>
            </a:r>
          </a:p>
          <a:p>
            <a:pPr>
              <a:spcBef>
                <a:spcPts val="1200"/>
              </a:spcBef>
              <a:defRPr sz="2400">
                <a:solidFill>
                  <a:srgbClr val="F8FAFC"/>
                </a:solidFill>
              </a:defRPr>
            </a:pPr>
            <a:r>
              <a:rPr dirty="0"/>
              <a:t>High-Performance Multithreaded Log Analysis &amp; Threat Detection System</a:t>
            </a:r>
          </a:p>
          <a:p>
            <a:pPr>
              <a:spcBef>
                <a:spcPts val="1800"/>
              </a:spcBef>
              <a:defRPr sz="1500">
                <a:solidFill>
                  <a:srgbClr val="94A3B8"/>
                </a:solidFill>
              </a:defRPr>
            </a:pPr>
            <a:r>
              <a:rPr dirty="0"/>
              <a:t>Title 17 | Systems Programming in C11 &amp; POSIX | Operating Systems Syllabus (CO-1 to CO-6)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892379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rPr dirty="0"/>
              <a:t>Team Members: Harshith </a:t>
            </a:r>
            <a:r>
              <a:rPr lang="en-IN" dirty="0"/>
              <a:t>– 2520030572, Thara Varashini-2520030052,Prathyusha Reddy-2520030612,Sai Krishna-2520030610 |</a:t>
            </a:r>
            <a:r>
              <a:rPr dirty="0"/>
              <a:t> </a:t>
            </a:r>
            <a:endParaRPr lang="en-IN" dirty="0"/>
          </a:p>
          <a:p>
            <a:pPr>
              <a:defRPr sz="1300">
                <a:solidFill>
                  <a:srgbClr val="10B981"/>
                </a:solidFill>
              </a:defRPr>
            </a:pPr>
            <a:r>
              <a:rPr dirty="0"/>
              <a:t>Repository: </a:t>
            </a:r>
            <a:r>
              <a:rPr dirty="0" err="1"/>
              <a:t>MultiLog</a:t>
            </a:r>
            <a:r>
              <a:rPr dirty="0"/>
              <a:t>-OS (GitHub) | Language: C (MinGW-W64 / Linux POSIX)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OPERATING SYSTEMS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Problem Statement &amp; Industry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1109003" cy="35086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38BDF8"/>
                </a:solidFill>
              </a:defRPr>
            </a:pPr>
            <a:r>
              <a:rPr dirty="0"/>
              <a:t>The Challenge: </a:t>
            </a:r>
            <a:r>
              <a:rPr sz="1500" b="0" dirty="0">
                <a:solidFill>
                  <a:srgbClr val="F8FAFC"/>
                </a:solidFill>
              </a:rPr>
              <a:t>Modern cloud systems, firewalls, and microservices generate tens of gigabytes of logs per hour. Single-threaded log parsers </a:t>
            </a:r>
            <a:endParaRPr lang="en-IN" sz="1500" b="0" dirty="0">
              <a:solidFill>
                <a:srgbClr val="F8FAFC"/>
              </a:solidFill>
            </a:endParaRPr>
          </a:p>
          <a:p>
            <a:pPr>
              <a:spcBef>
                <a:spcPts val="1200"/>
              </a:spcBef>
              <a:defRPr sz="1600" b="1">
                <a:solidFill>
                  <a:srgbClr val="38BDF8"/>
                </a:solidFill>
              </a:defRPr>
            </a:pPr>
            <a:r>
              <a:rPr sz="1500" b="0" dirty="0">
                <a:solidFill>
                  <a:srgbClr val="F8FAFC"/>
                </a:solidFill>
              </a:rPr>
              <a:t>encounter severe CPU and I/O bottlenecks, leading to delayed threat mitigation.</a:t>
            </a:r>
          </a:p>
          <a:p>
            <a:pPr>
              <a:spcBef>
                <a:spcPts val="1200"/>
              </a:spcBef>
              <a:defRPr sz="1600" b="1">
                <a:solidFill>
                  <a:srgbClr val="38BDF8"/>
                </a:solidFill>
              </a:defRPr>
            </a:pPr>
            <a:r>
              <a:rPr dirty="0"/>
              <a:t>Assigned Problem Statement #17: </a:t>
            </a:r>
            <a:r>
              <a:rPr sz="1500" b="0" dirty="0">
                <a:solidFill>
                  <a:srgbClr val="F8FAFC"/>
                </a:solidFill>
              </a:rPr>
              <a:t>Develop a system that uses multiple threads to analyze large log files and identify errors,</a:t>
            </a:r>
            <a:endParaRPr lang="en-IN" sz="1500" b="0" dirty="0">
              <a:solidFill>
                <a:srgbClr val="F8FAFC"/>
              </a:solidFill>
            </a:endParaRPr>
          </a:p>
          <a:p>
            <a:pPr>
              <a:spcBef>
                <a:spcPts val="1200"/>
              </a:spcBef>
              <a:defRPr sz="1600" b="1">
                <a:solidFill>
                  <a:srgbClr val="38BDF8"/>
                </a:solidFill>
              </a:defRPr>
            </a:pPr>
            <a:r>
              <a:rPr sz="1500" b="0" dirty="0">
                <a:solidFill>
                  <a:srgbClr val="F8FAFC"/>
                </a:solidFill>
              </a:rPr>
              <a:t> warnings, and suspicious security events with high throughput.</a:t>
            </a:r>
          </a:p>
          <a:p>
            <a:pPr>
              <a:spcBef>
                <a:spcPts val="1200"/>
              </a:spcBef>
              <a:defRPr sz="1600" b="1">
                <a:solidFill>
                  <a:srgbClr val="38BDF8"/>
                </a:solidFill>
              </a:defRPr>
            </a:pPr>
            <a:r>
              <a:rPr dirty="0"/>
              <a:t>Core Systems Bottlenecks: </a:t>
            </a:r>
            <a:r>
              <a:rPr sz="1500" b="0" dirty="0">
                <a:solidFill>
                  <a:srgbClr val="F8FAFC"/>
                </a:solidFill>
              </a:rPr>
              <a:t>Naive chunking corrupts log records when file splitting cuts through multi-byte strings; </a:t>
            </a:r>
            <a:endParaRPr lang="en-IN" sz="1500" b="0" dirty="0">
              <a:solidFill>
                <a:srgbClr val="F8FAFC"/>
              </a:solidFill>
            </a:endParaRPr>
          </a:p>
          <a:p>
            <a:pPr>
              <a:spcBef>
                <a:spcPts val="1200"/>
              </a:spcBef>
              <a:defRPr sz="1600" b="1">
                <a:solidFill>
                  <a:srgbClr val="38BDF8"/>
                </a:solidFill>
              </a:defRPr>
            </a:pPr>
            <a:r>
              <a:rPr sz="1500" b="0" dirty="0">
                <a:solidFill>
                  <a:srgbClr val="F8FAFC"/>
                </a:solidFill>
              </a:rPr>
              <a:t>naive multi-threading causes mutex lock contention; unbuffered disk I/O thrashes storage.</a:t>
            </a:r>
          </a:p>
          <a:p>
            <a:pPr>
              <a:spcBef>
                <a:spcPts val="1200"/>
              </a:spcBef>
              <a:defRPr sz="1600" b="1">
                <a:solidFill>
                  <a:srgbClr val="38BDF8"/>
                </a:solidFill>
              </a:defRPr>
            </a:pPr>
            <a:r>
              <a:rPr dirty="0" err="1"/>
              <a:t>MultiLog</a:t>
            </a:r>
            <a:r>
              <a:rPr dirty="0"/>
              <a:t>-OS Solution: </a:t>
            </a:r>
            <a:r>
              <a:rPr sz="1500" b="0" dirty="0">
                <a:solidFill>
                  <a:srgbClr val="F8FAFC"/>
                </a:solidFill>
              </a:rPr>
              <a:t>A bare-metal C implementation leveraging POSIX multithreading,</a:t>
            </a:r>
            <a:endParaRPr lang="en-IN" sz="1500" b="0" dirty="0">
              <a:solidFill>
                <a:srgbClr val="F8FAFC"/>
              </a:solidFill>
            </a:endParaRPr>
          </a:p>
          <a:p>
            <a:pPr>
              <a:spcBef>
                <a:spcPts val="1200"/>
              </a:spcBef>
              <a:defRPr sz="1600" b="1">
                <a:solidFill>
                  <a:srgbClr val="38BDF8"/>
                </a:solidFill>
              </a:defRPr>
            </a:pPr>
            <a:r>
              <a:rPr sz="1500" b="0" dirty="0">
                <a:solidFill>
                  <a:srgbClr val="F8FAFC"/>
                </a:solidFill>
              </a:rPr>
              <a:t> zero-copy memory-mapped file I/O (</a:t>
            </a:r>
            <a:r>
              <a:rPr sz="1500" b="0" dirty="0" err="1">
                <a:solidFill>
                  <a:srgbClr val="F8FAFC"/>
                </a:solidFill>
              </a:rPr>
              <a:t>mmap</a:t>
            </a:r>
            <a:r>
              <a:rPr sz="1500" b="0" dirty="0">
                <a:solidFill>
                  <a:srgbClr val="F8FAFC"/>
                </a:solidFill>
              </a:rPr>
              <a:t>), bump-pointer memory arenas, and lock-free atomic aggregation.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OPERATING SYSTEMS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Operating Systems Curriculum Integration (CO-1 to CO-6)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Course Outcome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OS Syllabus Topic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MultiLog-OS Implementation &amp; Verification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CO-1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OS as Service Layer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Direct POSIX syscalls vs library routines; User vs Kernel CPU transition accounting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CO-2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Processes &amp; Control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Supervisor process lifecycle (READY, RUNNING, TERMINATED), thread CPU affinity binding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CO-3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IPC &amp; Signals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Anonymous pipes for worker telemetry packets; signal handlers for SIGINT/SIGBREAK shutdown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CO-4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Memory Management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4096-byte virtual page alignment, per-thread bump-pointer arenas, page fault metrics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CO-5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File Systems &amp; I/O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Zero-copy mmap, direct syscall read(), buffered fread(); boundary-safe chunk partitioning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CO-6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Concurrency &amp; Sync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POSIX Threads, Mutex locks, Condition variables, Counting Semaphores, Lock-Free Atomics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OPERATING SYSTEMS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Architecture: Multithreaded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4" y="1463040"/>
            <a:ext cx="11881779" cy="2687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1. Input File &amp; VFS Metadata (CO-5): </a:t>
            </a:r>
            <a:r>
              <a:rPr sz="1400" b="0" dirty="0">
                <a:solidFill>
                  <a:srgbClr val="F8FAFC"/>
                </a:solidFill>
              </a:rPr>
              <a:t>Inspects file size, block size, </a:t>
            </a:r>
            <a:r>
              <a:rPr sz="1400" b="0" dirty="0" err="1">
                <a:solidFill>
                  <a:srgbClr val="F8FAFC"/>
                </a:solidFill>
              </a:rPr>
              <a:t>inode</a:t>
            </a:r>
            <a:r>
              <a:rPr sz="1400" b="0" dirty="0">
                <a:solidFill>
                  <a:srgbClr val="F8FAFC"/>
                </a:solidFill>
              </a:rPr>
              <a:t> via stat(). Verifies file boundaries.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2. Boundary-Safe Chunking (CO-5): </a:t>
            </a:r>
            <a:r>
              <a:rPr sz="1400" b="0" dirty="0">
                <a:solidFill>
                  <a:srgbClr val="F8FAFC"/>
                </a:solidFill>
              </a:rPr>
              <a:t>Partitions file into N chunks, advancing offsets to newline (\n) characters to prevent truncated log records.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3. Process Supervisor &amp; Resource Accounting (CO-2): </a:t>
            </a:r>
            <a:r>
              <a:rPr sz="1400" b="0" dirty="0">
                <a:solidFill>
                  <a:srgbClr val="F8FAFC"/>
                </a:solidFill>
              </a:rPr>
              <a:t>Tracks execution wall time, user-space CPU ticks, kernel-space CPU ticks, </a:t>
            </a:r>
            <a:endParaRPr lang="en-IN" sz="1400" b="0" dirty="0">
              <a:solidFill>
                <a:srgbClr val="F8FAFC"/>
              </a:solidFill>
            </a:endParaRP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lang="en-IN" sz="1400" b="0" dirty="0">
                <a:solidFill>
                  <a:srgbClr val="F8FAFC"/>
                </a:solidFill>
              </a:rPr>
              <a:t>      </a:t>
            </a:r>
            <a:r>
              <a:rPr sz="1400" b="0" dirty="0">
                <a:solidFill>
                  <a:srgbClr val="F8FAFC"/>
                </a:solidFill>
              </a:rPr>
              <a:t>and child worker lifecycle.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4. POSIX Worker Pool (CO-6): </a:t>
            </a:r>
            <a:r>
              <a:rPr sz="1400" b="0" dirty="0">
                <a:solidFill>
                  <a:srgbClr val="F8FAFC"/>
                </a:solidFill>
              </a:rPr>
              <a:t>Spawns T threads mapped to specific CPU cores. Each thread operates on its private memory arena.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5. Three Swappable I/O Engines (CO-5): </a:t>
            </a:r>
            <a:r>
              <a:rPr sz="1400" b="0" dirty="0">
                <a:solidFill>
                  <a:srgbClr val="F8FAFC"/>
                </a:solidFill>
              </a:rPr>
              <a:t>Supports Memory-Mapped zero-copy, Direct unbuffered </a:t>
            </a:r>
            <a:r>
              <a:rPr sz="1400" b="0" dirty="0" err="1">
                <a:solidFill>
                  <a:srgbClr val="F8FAFC"/>
                </a:solidFill>
              </a:rPr>
              <a:t>syscalls</a:t>
            </a:r>
            <a:r>
              <a:rPr sz="1400" b="0" dirty="0">
                <a:solidFill>
                  <a:srgbClr val="F8FAFC"/>
                </a:solidFill>
              </a:rPr>
              <a:t>, and Standard buffered streams.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6. Threat Detection &amp; Aggregator (CO-6): </a:t>
            </a:r>
            <a:r>
              <a:rPr sz="1400" b="0" dirty="0">
                <a:solidFill>
                  <a:srgbClr val="F8FAFC"/>
                </a:solidFill>
              </a:rPr>
              <a:t>Scans for 8 categories of threats and error patterns; safely merges results into global state via mutexes and atomics.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OPERATING SYSTEMS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CO-1 &amp; CO-2: OS Service Layer &amp; Process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58907" cy="36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User Space vs Kernel Space Execution Journey (CO-1):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Log string matching, tokenization, and regex evaluation execute entirely in User Space.</a:t>
            </a:r>
            <a:endParaRPr lang="en-IN" sz="1400" b="0" dirty="0">
              <a:solidFill>
                <a:srgbClr val="F8FAFC"/>
              </a:solidFill>
            </a:endParaRP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sz="1400" b="0" dirty="0">
                <a:solidFill>
                  <a:srgbClr val="F8FAFC"/>
                </a:solidFill>
              </a:rPr>
              <a:t> System calls (read, </a:t>
            </a:r>
            <a:r>
              <a:rPr sz="1400" b="0" dirty="0" err="1">
                <a:solidFill>
                  <a:srgbClr val="F8FAFC"/>
                </a:solidFill>
              </a:rPr>
              <a:t>mmap</a:t>
            </a:r>
            <a:r>
              <a:rPr sz="1400" b="0" dirty="0">
                <a:solidFill>
                  <a:srgbClr val="F8FAFC"/>
                </a:solidFill>
              </a:rPr>
              <a:t>, stat) transition the CPU into Kernel Space via software interrupts.</a:t>
            </a: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Precise CPU Time Accounting: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The supervisor measures </a:t>
            </a:r>
            <a:r>
              <a:rPr sz="1400" b="0" dirty="0" err="1">
                <a:solidFill>
                  <a:srgbClr val="F8FAFC"/>
                </a:solidFill>
              </a:rPr>
              <a:t>GetProcessTimes</a:t>
            </a:r>
            <a:r>
              <a:rPr sz="1400" b="0" dirty="0">
                <a:solidFill>
                  <a:srgbClr val="F8FAFC"/>
                </a:solidFill>
              </a:rPr>
              <a:t>() / </a:t>
            </a:r>
            <a:r>
              <a:rPr sz="1400" b="0" dirty="0" err="1">
                <a:solidFill>
                  <a:srgbClr val="F8FAFC"/>
                </a:solidFill>
              </a:rPr>
              <a:t>getrusage</a:t>
            </a:r>
            <a:r>
              <a:rPr sz="1400" b="0" dirty="0">
                <a:solidFill>
                  <a:srgbClr val="F8FAFC"/>
                </a:solidFill>
              </a:rPr>
              <a:t>() to segregate User CPU Time from Kernel CPU Time. </a:t>
            </a:r>
            <a:endParaRPr lang="en-IN" sz="1400" b="0" dirty="0">
              <a:solidFill>
                <a:srgbClr val="F8FAFC"/>
              </a:solidFill>
            </a:endParaRP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sz="1400" b="0" dirty="0">
                <a:solidFill>
                  <a:srgbClr val="F8FAFC"/>
                </a:solidFill>
              </a:rPr>
              <a:t>Memory-mapped I/O reduces kernel CPU time by over 56% compared to repeated buffered reads!</a:t>
            </a: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Process Lifecycle States (CO-2):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Demonstrates process state transitions: READY -&gt; RUNNING (multithreaded parsing) -&gt; BLOCKED_IO (disk waits) -&gt; TERMINATED with exit code 0.</a:t>
            </a: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User-Level Thread Scheduling &amp; Core Affinity: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Supports CPU core pinning (</a:t>
            </a:r>
            <a:r>
              <a:rPr sz="1400" b="0" dirty="0" err="1">
                <a:solidFill>
                  <a:srgbClr val="F8FAFC"/>
                </a:solidFill>
              </a:rPr>
              <a:t>SetThreadAffinityMask</a:t>
            </a:r>
            <a:r>
              <a:rPr sz="1400" b="0" dirty="0">
                <a:solidFill>
                  <a:srgbClr val="F8FAFC"/>
                </a:solidFill>
              </a:rPr>
              <a:t> / </a:t>
            </a:r>
            <a:r>
              <a:rPr sz="1400" b="0" dirty="0" err="1">
                <a:solidFill>
                  <a:srgbClr val="F8FAFC"/>
                </a:solidFill>
              </a:rPr>
              <a:t>pthread_setaffinity_np</a:t>
            </a:r>
            <a:r>
              <a:rPr sz="1400" b="0" dirty="0">
                <a:solidFill>
                  <a:srgbClr val="F8FAFC"/>
                </a:solidFill>
              </a:rPr>
              <a:t>) </a:t>
            </a:r>
            <a:endParaRPr lang="en-IN" sz="1400" b="0" dirty="0">
              <a:solidFill>
                <a:srgbClr val="F8FAFC"/>
              </a:solidFill>
            </a:endParaRP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sz="1400" b="0" dirty="0">
                <a:solidFill>
                  <a:srgbClr val="F8FAFC"/>
                </a:solidFill>
              </a:rPr>
              <a:t>to evaluate processor cache locality (L1/L2 hits) and avoid OS thread migration overhead.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OPERATING SYSTEMS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CO-3: Inter-Process Communication &amp;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8636980" cy="33547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Anonymous Pipes (_pipe / pipe):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Implemented unidirectional IPC channels where worker threads stream structured </a:t>
            </a:r>
            <a:r>
              <a:rPr sz="1400" b="0" dirty="0" err="1">
                <a:solidFill>
                  <a:srgbClr val="F8FAFC"/>
                </a:solidFill>
              </a:rPr>
              <a:t>IPCPacket</a:t>
            </a:r>
            <a:r>
              <a:rPr sz="1400" b="0" dirty="0">
                <a:solidFill>
                  <a:srgbClr val="F8FAFC"/>
                </a:solidFill>
              </a:rPr>
              <a:t> payloads </a:t>
            </a:r>
            <a:endParaRPr lang="en-IN" sz="1400" b="0" dirty="0">
              <a:solidFill>
                <a:srgbClr val="F8FAFC"/>
              </a:solidFill>
            </a:endParaRP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sz="1400" b="0" dirty="0">
                <a:solidFill>
                  <a:srgbClr val="F8FAFC"/>
                </a:solidFill>
              </a:rPr>
              <a:t>(magic header 0x4D4C4F53, worker ID, threat code, line summary) to an aggregator.</a:t>
            </a: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Asynchronous Notifications &amp; Signal Programming: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Registered signal handlers for SIGINT (</a:t>
            </a:r>
            <a:r>
              <a:rPr sz="1400" b="0" dirty="0" err="1">
                <a:solidFill>
                  <a:srgbClr val="F8FAFC"/>
                </a:solidFill>
              </a:rPr>
              <a:t>Ctrl+C</a:t>
            </a:r>
            <a:r>
              <a:rPr sz="1400" b="0" dirty="0">
                <a:solidFill>
                  <a:srgbClr val="F8FAFC"/>
                </a:solidFill>
              </a:rPr>
              <a:t>), SIGTERM, and SIGBREAK.</a:t>
            </a: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Graceful Degradation &amp; Emergency Flush: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When SIGINT is trapped, volatile </a:t>
            </a:r>
            <a:r>
              <a:rPr sz="1400" b="0" dirty="0" err="1">
                <a:solidFill>
                  <a:srgbClr val="F8FAFC"/>
                </a:solidFill>
              </a:rPr>
              <a:t>sig_atomic_t</a:t>
            </a:r>
            <a:r>
              <a:rPr sz="1400" b="0" dirty="0">
                <a:solidFill>
                  <a:srgbClr val="F8FAFC"/>
                </a:solidFill>
              </a:rPr>
              <a:t> flags notify all workers to halt gracefully, flush intermediate statistics, </a:t>
            </a:r>
            <a:endParaRPr lang="en-IN" sz="1400" b="0" dirty="0">
              <a:solidFill>
                <a:srgbClr val="F8FAFC"/>
              </a:solidFill>
            </a:endParaRP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sz="1400" b="0" dirty="0">
                <a:solidFill>
                  <a:srgbClr val="F8FAFC"/>
                </a:solidFill>
              </a:rPr>
              <a:t>and cleanly </a:t>
            </a:r>
            <a:r>
              <a:rPr sz="1400" b="0" dirty="0" err="1">
                <a:solidFill>
                  <a:srgbClr val="F8FAFC"/>
                </a:solidFill>
              </a:rPr>
              <a:t>unmap</a:t>
            </a:r>
            <a:r>
              <a:rPr sz="1400" b="0" dirty="0">
                <a:solidFill>
                  <a:srgbClr val="F8FAFC"/>
                </a:solidFill>
              </a:rPr>
              <a:t> memory without data corruption.</a:t>
            </a: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Process Group Coordination: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Ensures child execution threads inherit termination semantics and avoid orphaned process states.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OPERATING SYSTEMS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CO-4: Virtual Memory Management &amp; Page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432343" cy="36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Virtual Memory Page Alignment (4096 Bytes):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All thread memory pools are aligned to the system virtual memory page boundary (4KB),</a:t>
            </a:r>
            <a:endParaRPr lang="en-IN" sz="1400" b="0" dirty="0">
              <a:solidFill>
                <a:srgbClr val="F8FAFC"/>
              </a:solidFill>
            </a:endParaRP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sz="1400" b="0" dirty="0">
                <a:solidFill>
                  <a:srgbClr val="F8FAFC"/>
                </a:solidFill>
              </a:rPr>
              <a:t> preventing partial page allocation and optimizing MMU address translation.</a:t>
            </a: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Thread-Local Bump-Pointer Arena Allocators: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Eliminated heap lock contention. Instead of calling malloc() on every log line, each thread records alerts in an O(1) bump arena,</a:t>
            </a:r>
            <a:endParaRPr lang="en-IN" sz="1400" b="0" dirty="0">
              <a:solidFill>
                <a:srgbClr val="F8FAFC"/>
              </a:solidFill>
            </a:endParaRP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sz="1400" b="0" dirty="0">
                <a:solidFill>
                  <a:srgbClr val="F8FAFC"/>
                </a:solidFill>
              </a:rPr>
              <a:t> entirely reclaimed at chunk completion.</a:t>
            </a: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Address Space Layout Inspection: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The system inspects its own virtual memory layout at runtime, displaying base addresses for: Code/Text segment, Initialized Data, </a:t>
            </a:r>
            <a:endParaRPr lang="en-IN" sz="1400" b="0" dirty="0">
              <a:solidFill>
                <a:srgbClr val="F8FAFC"/>
              </a:solidFill>
            </a:endParaRP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sz="1400" b="0" dirty="0">
                <a:solidFill>
                  <a:srgbClr val="F8FAFC"/>
                </a:solidFill>
              </a:rPr>
              <a:t>BSS uninitialized segment, Heap (</a:t>
            </a:r>
            <a:r>
              <a:rPr sz="1400" b="0" dirty="0" err="1">
                <a:solidFill>
                  <a:srgbClr val="F8FAFC"/>
                </a:solidFill>
              </a:rPr>
              <a:t>brk</a:t>
            </a:r>
            <a:r>
              <a:rPr sz="1400" b="0" dirty="0">
                <a:solidFill>
                  <a:srgbClr val="F8FAFC"/>
                </a:solidFill>
              </a:rPr>
              <a:t>), and Thread Stacks.</a:t>
            </a:r>
          </a:p>
          <a:p>
            <a:pPr>
              <a:spcBef>
                <a:spcPts val="10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Demand Paging &amp; Page Fault Telemetry: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Monitors soft/minor page faults (resolved via page cache) and major page faults (disk retrieval) using </a:t>
            </a:r>
            <a:r>
              <a:rPr sz="1400" b="0" dirty="0" err="1">
                <a:solidFill>
                  <a:srgbClr val="F8FAFC"/>
                </a:solidFill>
              </a:rPr>
              <a:t>GetProcessMemoryInfo</a:t>
            </a:r>
            <a:r>
              <a:rPr sz="1400" b="0" dirty="0">
                <a:solidFill>
                  <a:srgbClr val="F8FAFC"/>
                </a:solidFill>
              </a:rPr>
              <a:t>() / </a:t>
            </a:r>
            <a:r>
              <a:rPr sz="1400" b="0" dirty="0" err="1">
                <a:solidFill>
                  <a:srgbClr val="F8FAFC"/>
                </a:solidFill>
              </a:rPr>
              <a:t>getrusage</a:t>
            </a:r>
            <a:r>
              <a:rPr sz="1400" b="0" dirty="0">
                <a:solidFill>
                  <a:srgbClr val="F8FAFC"/>
                </a:solidFill>
              </a:rPr>
              <a:t>().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OPERATING SYSTEMS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CO-5: File Systems &amp; Boundary-Safe Chunking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700348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ts val="600"/>
              </a:spcBef>
              <a:defRPr sz="1400" b="1">
                <a:solidFill>
                  <a:srgbClr val="38BDF8"/>
                </a:solidFill>
              </a:defRPr>
            </a:pPr>
            <a:r>
              <a:rPr dirty="0"/>
              <a:t>The Boundary-Safe Chunking Algorithm: </a:t>
            </a:r>
            <a:r>
              <a:rPr sz="1300" b="0" dirty="0">
                <a:solidFill>
                  <a:srgbClr val="F8FAFC"/>
                </a:solidFill>
              </a:rPr>
              <a:t>Arbitrary byte offsets split lines midway through IP addresses or payloads. </a:t>
            </a:r>
            <a:endParaRPr lang="en-IN" sz="1300" b="0" dirty="0">
              <a:solidFill>
                <a:srgbClr val="F8FAFC"/>
              </a:solidFill>
            </a:endParaRPr>
          </a:p>
          <a:p>
            <a:pPr>
              <a:spcBef>
                <a:spcPts val="600"/>
              </a:spcBef>
              <a:defRPr sz="1400" b="1">
                <a:solidFill>
                  <a:srgbClr val="38BDF8"/>
                </a:solidFill>
              </a:defRPr>
            </a:pPr>
            <a:r>
              <a:rPr sz="1300" b="0" dirty="0" err="1">
                <a:solidFill>
                  <a:srgbClr val="F8FAFC"/>
                </a:solidFill>
              </a:rPr>
              <a:t>MultiLog</a:t>
            </a:r>
            <a:r>
              <a:rPr sz="1300" b="0" dirty="0">
                <a:solidFill>
                  <a:srgbClr val="F8FAFC"/>
                </a:solidFill>
              </a:rPr>
              <a:t>-OS computes nominal chunk boundaries (</a:t>
            </a:r>
            <a:r>
              <a:rPr sz="1300" b="0" dirty="0" err="1">
                <a:solidFill>
                  <a:srgbClr val="F8FAFC"/>
                </a:solidFill>
              </a:rPr>
              <a:t>File_Size</a:t>
            </a:r>
            <a:r>
              <a:rPr sz="1300" b="0" dirty="0">
                <a:solidFill>
                  <a:srgbClr val="F8FAFC"/>
                </a:solidFill>
              </a:rPr>
              <a:t> / T) and advances each boundary forward to the nearest newline character (\n).</a:t>
            </a:r>
          </a:p>
          <a:p>
            <a:pPr>
              <a:spcBef>
                <a:spcPts val="600"/>
              </a:spcBef>
              <a:defRPr sz="1400" b="1">
                <a:solidFill>
                  <a:srgbClr val="38BDF8"/>
                </a:solidFill>
              </a:defRPr>
            </a:pPr>
            <a:r>
              <a:rPr dirty="0"/>
              <a:t>Mathematical Zero-Overlap Guarantee: </a:t>
            </a:r>
            <a:r>
              <a:rPr sz="1300" b="0" dirty="0">
                <a:solidFill>
                  <a:srgbClr val="F8FAFC"/>
                </a:solidFill>
              </a:rPr>
              <a:t>Ensures every log record belongs to exactly one thread.</a:t>
            </a:r>
            <a:endParaRPr lang="en-IN" sz="1300" b="0" dirty="0">
              <a:solidFill>
                <a:srgbClr val="F8FAFC"/>
              </a:solidFill>
            </a:endParaRPr>
          </a:p>
          <a:p>
            <a:pPr>
              <a:spcBef>
                <a:spcPts val="600"/>
              </a:spcBef>
              <a:defRPr sz="1400" b="1">
                <a:solidFill>
                  <a:srgbClr val="38BDF8"/>
                </a:solidFill>
              </a:defRPr>
            </a:pPr>
            <a:r>
              <a:rPr sz="1300" b="0" dirty="0">
                <a:solidFill>
                  <a:srgbClr val="F8FAFC"/>
                </a:solidFill>
              </a:rPr>
              <a:t> Verified across 1, 4, 8 threads: exactly 50,000 lines detected in all runs!</a:t>
            </a:r>
          </a:p>
          <a:p>
            <a:pPr>
              <a:spcBef>
                <a:spcPts val="600"/>
              </a:spcBef>
              <a:defRPr sz="1400" b="1">
                <a:solidFill>
                  <a:srgbClr val="38BDF8"/>
                </a:solidFill>
              </a:defRPr>
            </a:pPr>
            <a:r>
              <a:rPr dirty="0"/>
              <a:t>Three Swappable I/O Architecture Engines: </a:t>
            </a:r>
          </a:p>
          <a:p>
            <a:pPr>
              <a:spcBef>
                <a:spcPts val="600"/>
              </a:spcBef>
              <a:defRPr sz="1400" b="1">
                <a:solidFill>
                  <a:srgbClr val="38BDF8"/>
                </a:solidFill>
              </a:defRPr>
            </a:pPr>
            <a:r>
              <a:rPr dirty="0"/>
              <a:t>  - 1. Memory-Mapped I/O (</a:t>
            </a:r>
            <a:r>
              <a:rPr dirty="0" err="1"/>
              <a:t>mmap</a:t>
            </a:r>
            <a:r>
              <a:rPr dirty="0"/>
              <a:t> / </a:t>
            </a:r>
            <a:r>
              <a:rPr dirty="0" err="1"/>
              <a:t>MapViewOfFile</a:t>
            </a:r>
            <a:r>
              <a:rPr dirty="0"/>
              <a:t>): </a:t>
            </a:r>
            <a:r>
              <a:rPr sz="1300" b="0" dirty="0">
                <a:solidFill>
                  <a:srgbClr val="F8FAFC"/>
                </a:solidFill>
              </a:rPr>
              <a:t>Zero-copy mapping directly into user address space; leverages OS page cache.</a:t>
            </a:r>
          </a:p>
          <a:p>
            <a:pPr>
              <a:spcBef>
                <a:spcPts val="600"/>
              </a:spcBef>
              <a:defRPr sz="1400" b="1">
                <a:solidFill>
                  <a:srgbClr val="38BDF8"/>
                </a:solidFill>
              </a:defRPr>
            </a:pPr>
            <a:r>
              <a:rPr dirty="0"/>
              <a:t>  - 2. Direct </a:t>
            </a:r>
            <a:r>
              <a:rPr dirty="0" err="1"/>
              <a:t>Syscall</a:t>
            </a:r>
            <a:r>
              <a:rPr dirty="0"/>
              <a:t> I/O (open/read/</a:t>
            </a:r>
            <a:r>
              <a:rPr dirty="0" err="1"/>
              <a:t>lseek</a:t>
            </a:r>
            <a:r>
              <a:rPr dirty="0"/>
              <a:t>): </a:t>
            </a:r>
            <a:r>
              <a:rPr sz="1300" b="0" dirty="0">
                <a:solidFill>
                  <a:srgbClr val="F8FAFC"/>
                </a:solidFill>
              </a:rPr>
              <a:t>Unbuffered low-level system calls into user buffers.</a:t>
            </a:r>
          </a:p>
          <a:p>
            <a:pPr>
              <a:spcBef>
                <a:spcPts val="600"/>
              </a:spcBef>
              <a:defRPr sz="1400" b="1">
                <a:solidFill>
                  <a:srgbClr val="38BDF8"/>
                </a:solidFill>
              </a:defRPr>
            </a:pPr>
            <a:r>
              <a:rPr dirty="0"/>
              <a:t>  - 3. Standard Buffered I/O (</a:t>
            </a:r>
            <a:r>
              <a:rPr dirty="0" err="1"/>
              <a:t>fopen</a:t>
            </a:r>
            <a:r>
              <a:rPr dirty="0"/>
              <a:t>/</a:t>
            </a:r>
            <a:r>
              <a:rPr dirty="0" err="1"/>
              <a:t>fread</a:t>
            </a:r>
            <a:r>
              <a:rPr dirty="0"/>
              <a:t>): </a:t>
            </a:r>
            <a:r>
              <a:rPr sz="1300" b="0" dirty="0">
                <a:solidFill>
                  <a:srgbClr val="F8FAFC"/>
                </a:solidFill>
              </a:rPr>
              <a:t>C library stream buffering via internal BUFSIZ buffers.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OPERATING SYSTEMS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CO-6: Concurrency &amp; Synchronization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t>POSIX Threads (pthread_create / pthread_join):</a:t>
            </a:r>
            <a:br/>
            <a:r>
              <a:rPr sz="1400" b="0">
                <a:solidFill>
                  <a:srgbClr val="F8FAFC"/>
                </a:solidFill>
              </a:rPr>
              <a:t>True parallel worker execution across physical CPU cores.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t>Mutual Exclusion (pthread_mutex_t):</a:t>
            </a:r>
            <a:br/>
            <a:r>
              <a:rPr sz="1400" b="0">
                <a:solidFill>
                  <a:srgbClr val="F8FAFC"/>
                </a:solidFill>
              </a:rPr>
              <a:t>Protects shared state (consolidated totals, IP reputation hash map, global alert reservoir) from race conditions during thread merge.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t>Condition Variables (pthread_cond_t):</a:t>
            </a:r>
            <a:br/>
            <a:r>
              <a:rPr sz="1400" b="0">
                <a:solidFill>
                  <a:srgbClr val="F8FAFC"/>
                </a:solidFill>
              </a:rPr>
              <a:t>Coordinates producer-coordinator notifications when thread pool chunks complete.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t>Counting Semaphores (sem_t / Win32 Semaphore):</a:t>
            </a:r>
            <a:br/>
            <a:r>
              <a:rPr sz="1400" b="0">
                <a:solidFill>
                  <a:srgbClr val="F8FAFC"/>
                </a:solidFill>
              </a:rPr>
              <a:t>Throttles concurrent active disk I/O channels to 8 simultaneous threads, preventing disk head thrashing.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t>Deadlock Avoidance Architecture:</a:t>
            </a:r>
            <a:br/>
            <a:r>
              <a:rPr sz="1400" b="0">
                <a:solidFill>
                  <a:srgbClr val="F8FAFC"/>
                </a:solidFill>
              </a:rPr>
              <a:t>Enforces strict hierarchical lock ordering (stats_mutex -&gt; alert_mutex -&gt; ip_table_mutex) and zero lock acquisition inside tight parsing loops.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OPERATING SYSTEMS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Security Threat &amp; Anomaly Detection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defRPr sz="1400" b="1">
                <a:solidFill>
                  <a:srgbClr val="38BDF8"/>
                </a:solidFill>
              </a:defRPr>
            </a:pPr>
            <a:r>
              <a:t>SQL Injection (SQLi): </a:t>
            </a:r>
            <a:r>
              <a:rPr sz="1300" b="0">
                <a:solidFill>
                  <a:srgbClr val="F8FAFC"/>
                </a:solidFill>
              </a:rPr>
              <a:t>Detects tautologies (' OR '1'='1), UNION SELECT, SLEEP() delays, and comment operators (--).</a:t>
            </a:r>
          </a:p>
          <a:p>
            <a:pPr>
              <a:spcBef>
                <a:spcPts val="600"/>
              </a:spcBef>
              <a:defRPr sz="1400" b="1">
                <a:solidFill>
                  <a:srgbClr val="38BDF8"/>
                </a:solidFill>
              </a:defRPr>
            </a:pPr>
            <a:r>
              <a:t>Cross-Site Scripting (XSS): </a:t>
            </a:r>
            <a:r>
              <a:rPr sz="1300" b="0">
                <a:solidFill>
                  <a:srgbClr val="F8FAFC"/>
                </a:solidFill>
              </a:rPr>
              <a:t>Detects &lt;script&gt;, javascript: pseudo-protocols, and malicious DOM event hooks (onload=, onerror=).</a:t>
            </a:r>
          </a:p>
          <a:p>
            <a:pPr>
              <a:spcBef>
                <a:spcPts val="600"/>
              </a:spcBef>
              <a:defRPr sz="1400" b="1">
                <a:solidFill>
                  <a:srgbClr val="38BDF8"/>
                </a:solidFill>
              </a:defRPr>
            </a:pPr>
            <a:r>
              <a:t>Directory Traversal: </a:t>
            </a:r>
            <a:r>
              <a:rPr sz="1300" b="0">
                <a:solidFill>
                  <a:srgbClr val="F8FAFC"/>
                </a:solidFill>
              </a:rPr>
              <a:t>Identifies path escape sequences (../../, ..\..\) targeting /etc/passwd, boot.ini, or windows/system32.</a:t>
            </a:r>
          </a:p>
          <a:p>
            <a:pPr>
              <a:spcBef>
                <a:spcPts val="600"/>
              </a:spcBef>
              <a:defRPr sz="1400" b="1">
                <a:solidFill>
                  <a:srgbClr val="38BDF8"/>
                </a:solidFill>
              </a:defRPr>
            </a:pPr>
            <a:r>
              <a:t>Reconnaissance Scanning: </a:t>
            </a:r>
            <a:r>
              <a:rPr sz="1300" b="0">
                <a:solidFill>
                  <a:srgbClr val="F8FAFC"/>
                </a:solidFill>
              </a:rPr>
              <a:t>Detects automated bot probing of /wp-admin, /.env, /.git/config, and /phpmyadmin.</a:t>
            </a:r>
          </a:p>
          <a:p>
            <a:pPr>
              <a:spcBef>
                <a:spcPts val="600"/>
              </a:spcBef>
              <a:defRPr sz="1400" b="1">
                <a:solidFill>
                  <a:srgbClr val="38BDF8"/>
                </a:solidFill>
              </a:defRPr>
            </a:pPr>
            <a:r>
              <a:t>SSH &amp; Auth Brute Force: </a:t>
            </a:r>
            <a:r>
              <a:rPr sz="1300" b="0">
                <a:solidFill>
                  <a:srgbClr val="F8FAFC"/>
                </a:solidFill>
              </a:rPr>
              <a:t>Tracks high-frequency 'Failed password' attempts and authorization failures per source IP.</a:t>
            </a:r>
          </a:p>
          <a:p>
            <a:pPr>
              <a:spcBef>
                <a:spcPts val="600"/>
              </a:spcBef>
              <a:defRPr sz="1400" b="1">
                <a:solidFill>
                  <a:srgbClr val="38BDF8"/>
                </a:solidFill>
              </a:defRPr>
            </a:pPr>
            <a:r>
              <a:t>Privilege Escalation: </a:t>
            </a:r>
            <a:r>
              <a:rPr sz="1300" b="0">
                <a:solidFill>
                  <a:srgbClr val="F8FAFC"/>
                </a:solidFill>
              </a:rPr>
              <a:t>Flags unauthorized sudo commands, NOPASSWD executions, and root shell spawning.</a:t>
            </a:r>
          </a:p>
          <a:p>
            <a:pPr>
              <a:spcBef>
                <a:spcPts val="600"/>
              </a:spcBef>
              <a:defRPr sz="1400" b="1">
                <a:solidFill>
                  <a:srgbClr val="38BDF8"/>
                </a:solidFill>
              </a:defRPr>
            </a:pPr>
            <a:r>
              <a:t>Errors &amp; Warnings: </a:t>
            </a:r>
            <a:r>
              <a:rPr sz="1300" b="0">
                <a:solidFill>
                  <a:srgbClr val="F8FAFC"/>
                </a:solidFill>
              </a:rPr>
              <a:t>Categorizes HTTP 5xx, Out-Of-Memory (OOM), segmentation faults, and slow query warnings.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OPERATING SYSTEMS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Experimental Results: Multithreaded Scaling (Amdahl's Law)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Benchmark Dataset: 50,000 Lines (6.58 MB) | Platform: MinGW-W64 C11 64-bit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Threads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Wall Time (s)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Measured Speedup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Parallel Efficiency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Throughput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 Thread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2.2208 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1.00x (Baseline)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2.92 MB/s (22.5k lines/s)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 Threads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1.0806 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2.06x Speedup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102.8%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6.00 MB/s (46.2k lines/s)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4 Threads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0.5238 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4.24x Speedup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106.0%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12.37 MB/s (95.4k lines/s)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8 Threads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0.4023 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5.52x Speedup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69.0%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16.11 MB/s (124.2k lines/s)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16 Threads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0.2799 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7.93x Speedup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49.6%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23.16 MB/s (178.6k lines/s)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OPERATING SYSTEMS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CO-5 I/O Face-Off &amp; Operating System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1287001" cy="38369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Memory-Mapped I/O (</a:t>
            </a:r>
            <a:r>
              <a:rPr dirty="0" err="1"/>
              <a:t>mmap</a:t>
            </a:r>
            <a:r>
              <a:rPr dirty="0"/>
              <a:t>) vs Traditional </a:t>
            </a:r>
            <a:r>
              <a:rPr dirty="0" err="1"/>
              <a:t>Syscalls</a:t>
            </a:r>
            <a:r>
              <a:rPr dirty="0"/>
              <a:t>:</a:t>
            </a:r>
            <a:br>
              <a:rPr dirty="0"/>
            </a:br>
            <a:r>
              <a:rPr sz="1400" b="0" dirty="0" err="1">
                <a:solidFill>
                  <a:srgbClr val="F8FAFC"/>
                </a:solidFill>
              </a:rPr>
              <a:t>mmap</a:t>
            </a:r>
            <a:r>
              <a:rPr sz="1400" b="0" dirty="0">
                <a:solidFill>
                  <a:srgbClr val="F8FAFC"/>
                </a:solidFill>
              </a:rPr>
              <a:t> eliminated double-buffering between kernel page cache and user buffers. </a:t>
            </a:r>
            <a:endParaRPr lang="en-IN" sz="1400" b="0" dirty="0">
              <a:solidFill>
                <a:srgbClr val="F8FAFC"/>
              </a:solidFill>
            </a:endParaRP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sz="1400" b="0" dirty="0">
                <a:solidFill>
                  <a:srgbClr val="F8FAFC"/>
                </a:solidFill>
              </a:rPr>
              <a:t>Observed Kernel CPU time dropped from 0.250s (buffered) down to 0.109s (</a:t>
            </a:r>
            <a:r>
              <a:rPr sz="1400" b="0" dirty="0" err="1">
                <a:solidFill>
                  <a:srgbClr val="F8FAFC"/>
                </a:solidFill>
              </a:rPr>
              <a:t>mmap</a:t>
            </a:r>
            <a:r>
              <a:rPr sz="1400" b="0" dirty="0">
                <a:solidFill>
                  <a:srgbClr val="F8FAFC"/>
                </a:solidFill>
              </a:rPr>
              <a:t>), representing a 56.4% reduction in kernel mode transition overhead!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Demand Paging Behavior: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Observed 3,116 minor page faults as threads dynamically touched pages in the virtual address space.</a:t>
            </a:r>
            <a:endParaRPr lang="en-IN" sz="1400" b="0" dirty="0">
              <a:solidFill>
                <a:srgbClr val="F8FAFC"/>
              </a:solidFill>
            </a:endParaRP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sz="1400" b="0" dirty="0">
                <a:solidFill>
                  <a:srgbClr val="F8FAFC"/>
                </a:solidFill>
              </a:rPr>
              <a:t> Zero major page faults occurred after the OS mapped pages into physical RAM.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Multicore CPU Scaling Efficiency: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Achieved 97.5% parallel CPU efficiency across 4 cores, demonstrating that worker threads spend nearly 100% of their time in user-space </a:t>
            </a:r>
            <a:endParaRPr lang="en-IN" sz="1400" b="0" dirty="0">
              <a:solidFill>
                <a:srgbClr val="F8FAFC"/>
              </a:solidFill>
            </a:endParaRP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sz="1400" b="0" dirty="0">
                <a:solidFill>
                  <a:srgbClr val="F8FAFC"/>
                </a:solidFill>
              </a:rPr>
              <a:t>computation with minimal synchronization contention.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Predictable Memory Footprint: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Resident Set Size (RSS) remained capped at 11.82 MB even while analyzing millions of lines, </a:t>
            </a:r>
            <a:endParaRPr lang="en-IN" sz="1400" b="0" dirty="0">
              <a:solidFill>
                <a:srgbClr val="F8FAFC"/>
              </a:solidFill>
            </a:endParaRP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sz="1400" b="0" dirty="0">
                <a:solidFill>
                  <a:srgbClr val="F8FAFC"/>
                </a:solidFill>
              </a:rPr>
              <a:t>proving that bump arenas and zero-copy parsing prevent memory bloat.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OPERATING SYSTEMS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Team Participation &amp; Technical Contributions (Deliverable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500" b="1">
                <a:solidFill>
                  <a:srgbClr val="10B981"/>
                </a:solidFill>
              </a:defRPr>
            </a:pPr>
            <a:r>
              <a:t>Member 1 - Concurrency &amp; Synchronization Lead (CO-6):</a:t>
            </a:r>
            <a:br/>
            <a:r>
              <a:rPr sz="1400" b="0">
                <a:solidFill>
                  <a:srgbClr val="F8FAFC"/>
                </a:solidFill>
              </a:rPr>
              <a:t>Designed POSIX thread pool, mutex synchronization hierarchy, counting semaphores for I/O throttling, and lock-free atomic counters.</a:t>
            </a:r>
          </a:p>
          <a:p>
            <a:pPr>
              <a:spcBef>
                <a:spcPts val="800"/>
              </a:spcBef>
              <a:defRPr sz="1500" b="1">
                <a:solidFill>
                  <a:srgbClr val="10B981"/>
                </a:solidFill>
              </a:defRPr>
            </a:pPr>
            <a:r>
              <a:t>Member 2 - File Systems &amp; Memory Architecture Lead (CO-4 &amp; CO-5):</a:t>
            </a:r>
            <a:br/>
            <a:r>
              <a:rPr sz="1400" b="0">
                <a:solidFill>
                  <a:srgbClr val="F8FAFC"/>
                </a:solidFill>
              </a:rPr>
              <a:t>Implemented zero-copy mmap, direct syscall read, boundary-safe chunking algorithm, and 4KB page-aligned bump arenas.</a:t>
            </a:r>
          </a:p>
          <a:p>
            <a:pPr>
              <a:spcBef>
                <a:spcPts val="800"/>
              </a:spcBef>
              <a:defRPr sz="1500" b="1">
                <a:solidFill>
                  <a:srgbClr val="10B981"/>
                </a:solidFill>
              </a:defRPr>
            </a:pPr>
            <a:r>
              <a:t>Member 3 - Systems Programming &amp; IPC Lead (CO-1, CO-2 &amp; CO-3):</a:t>
            </a:r>
            <a:br/>
            <a:r>
              <a:rPr sz="1400" b="0">
                <a:solidFill>
                  <a:srgbClr val="F8FAFC"/>
                </a:solidFill>
              </a:rPr>
              <a:t>Developed process supervisor, user/kernel CPU accounting, anonymous pipe channels, and POSIX signal handlers.</a:t>
            </a:r>
          </a:p>
          <a:p>
            <a:pPr>
              <a:spcBef>
                <a:spcPts val="800"/>
              </a:spcBef>
              <a:defRPr sz="1500" b="1">
                <a:solidFill>
                  <a:srgbClr val="10B981"/>
                </a:solidFill>
              </a:defRPr>
            </a:pPr>
            <a:r>
              <a:t>Member 4 - Threat Detection, Testing &amp; Visualization Lead:</a:t>
            </a:r>
            <a:br/>
            <a:r>
              <a:rPr sz="1400" b="0">
                <a:solidFill>
                  <a:srgbClr val="F8FAFC"/>
                </a:solidFill>
              </a:rPr>
              <a:t>Engineered security pattern engine, automated test suite (5/5 tests), synthetic log generator, and interactive Web Dashboard.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OPERATING SYSTEMS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Testing, Validation &amp; Quality Assurance (Deliverable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417275" cy="22621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</a:defRPr>
            </a:pPr>
            <a:r>
              <a:rPr dirty="0"/>
              <a:t>[PASS] Test 1 - Virtual Memory Layout Inspection (CO-4): </a:t>
            </a:r>
            <a:r>
              <a:rPr sz="1300" b="0" dirty="0">
                <a:solidFill>
                  <a:srgbClr val="F8FAFC"/>
                </a:solidFill>
              </a:rPr>
              <a:t>Validated virtual memory segment addresses (Text, Data, BSS, Heap, Stack).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</a:defRPr>
            </a:pPr>
            <a:r>
              <a:rPr dirty="0"/>
              <a:t>[PASS] Test 2 - Concurrency Invariance &amp; Zero Race Condition (CO-6): </a:t>
            </a:r>
            <a:r>
              <a:rPr sz="1300" b="0" dirty="0">
                <a:solidFill>
                  <a:srgbClr val="F8FAFC"/>
                </a:solidFill>
              </a:rPr>
              <a:t>Ran 1-Thread, 4-Thread, and 8-Thread executions. </a:t>
            </a:r>
            <a:endParaRPr lang="en-IN" sz="1300" b="0" dirty="0">
              <a:solidFill>
                <a:srgbClr val="F8FAFC"/>
              </a:solidFill>
            </a:endParaRP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</a:defRPr>
            </a:pPr>
            <a:r>
              <a:rPr sz="1300" b="0" dirty="0">
                <a:solidFill>
                  <a:srgbClr val="F8FAFC"/>
                </a:solidFill>
              </a:rPr>
              <a:t>Proved 100% exact match in line counts (50,000), error counts, and threat counts.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</a:defRPr>
            </a:pPr>
            <a:r>
              <a:rPr dirty="0"/>
              <a:t>[PASS] Test 3 - I/O Engine Swapping Verification (CO-5): </a:t>
            </a:r>
            <a:r>
              <a:rPr sz="1300" b="0" dirty="0">
                <a:solidFill>
                  <a:srgbClr val="F8FAFC"/>
                </a:solidFill>
              </a:rPr>
              <a:t>Validated correct execution across Memory-Mapped, Direct </a:t>
            </a:r>
            <a:r>
              <a:rPr sz="1300" b="0" dirty="0" err="1">
                <a:solidFill>
                  <a:srgbClr val="F8FAFC"/>
                </a:solidFill>
              </a:rPr>
              <a:t>Syscall</a:t>
            </a:r>
            <a:r>
              <a:rPr sz="1300" b="0" dirty="0">
                <a:solidFill>
                  <a:srgbClr val="F8FAFC"/>
                </a:solidFill>
              </a:rPr>
              <a:t>, and Buffered streams.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</a:defRPr>
            </a:pPr>
            <a:r>
              <a:rPr dirty="0"/>
              <a:t>[PASS] Test 4 - Amdahl's Law Speedup Validation (CO-6): </a:t>
            </a:r>
            <a:r>
              <a:rPr sz="1300" b="0" dirty="0">
                <a:solidFill>
                  <a:srgbClr val="F8FAFC"/>
                </a:solidFill>
              </a:rPr>
              <a:t>Demonstrated near-linear 7.93x speedup scaling from 1 to 16 threads.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</a:defRPr>
            </a:pPr>
            <a:r>
              <a:rPr dirty="0"/>
              <a:t>[PASS] Test 5 - Multi-Format Reporting Telemetry: </a:t>
            </a:r>
            <a:r>
              <a:rPr sz="1300" b="0" dirty="0">
                <a:solidFill>
                  <a:srgbClr val="F8FAFC"/>
                </a:solidFill>
              </a:rPr>
              <a:t>Verified automatic generation of valid JSON, standalone HTML, and CSV export artifacts.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OPERATING SYSTEMS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Impact, Real-World Deployment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920793" cy="351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Engineering Achievement:</a:t>
            </a:r>
            <a:br>
              <a:rPr dirty="0"/>
            </a:br>
            <a:r>
              <a:rPr sz="1400" b="0" dirty="0" err="1">
                <a:solidFill>
                  <a:srgbClr val="F8FAFC"/>
                </a:solidFill>
              </a:rPr>
              <a:t>MultiLog</a:t>
            </a:r>
            <a:r>
              <a:rPr sz="1400" b="0" dirty="0">
                <a:solidFill>
                  <a:srgbClr val="F8FAFC"/>
                </a:solidFill>
              </a:rPr>
              <a:t>-OS processes up to 178,000 lines/second (&gt;23 MB/s) on standard hardware with minimal memory footprint, </a:t>
            </a:r>
            <a:endParaRPr lang="en-IN" sz="1400" b="0" dirty="0">
              <a:solidFill>
                <a:srgbClr val="F8FAFC"/>
              </a:solidFill>
            </a:endParaRP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sz="1400" b="0" dirty="0">
                <a:solidFill>
                  <a:srgbClr val="F8FAFC"/>
                </a:solidFill>
              </a:rPr>
              <a:t>achieving a 7.93x speedup via POSIX multithreading.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Academic Excellence: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Comprehensive, verifiable demonstration of all 6 Operating Systems Course Outcomes (CO-1 through CO-6) in clean, robust C11 code.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Real-World Impact: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Provides real-time threat intelligence for SOC (Security Operations Center) analysts, rapidly detecting SQLi, XSS, brute force, </a:t>
            </a:r>
            <a:endParaRPr lang="en-IN" sz="1400" b="0" dirty="0">
              <a:solidFill>
                <a:srgbClr val="F8FAFC"/>
              </a:solidFill>
            </a:endParaRP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sz="1400" b="0" dirty="0">
                <a:solidFill>
                  <a:srgbClr val="F8FAFC"/>
                </a:solidFill>
              </a:rPr>
              <a:t>and probe attacks in high-traffic production environments.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dirty="0"/>
              <a:t>Future Scope:</a:t>
            </a:r>
            <a:br>
              <a:rPr dirty="0"/>
            </a:br>
            <a:r>
              <a:rPr sz="1400" b="0" dirty="0">
                <a:solidFill>
                  <a:srgbClr val="F8FAFC"/>
                </a:solidFill>
              </a:rPr>
              <a:t>Integration with Linux </a:t>
            </a:r>
            <a:r>
              <a:rPr sz="1400" b="0" dirty="0" err="1">
                <a:solidFill>
                  <a:srgbClr val="F8FAFC"/>
                </a:solidFill>
              </a:rPr>
              <a:t>eBPF</a:t>
            </a:r>
            <a:r>
              <a:rPr sz="1400" b="0" dirty="0">
                <a:solidFill>
                  <a:srgbClr val="F8FAFC"/>
                </a:solidFill>
              </a:rPr>
              <a:t> (Extended Berkeley Packet Filter) for kernel-level log interception, </a:t>
            </a:r>
            <a:endParaRPr lang="en-IN" sz="1400" b="0" dirty="0">
              <a:solidFill>
                <a:srgbClr val="F8FAFC"/>
              </a:solidFill>
            </a:endParaRP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rPr sz="1400" b="0" dirty="0">
                <a:solidFill>
                  <a:srgbClr val="F8FAFC"/>
                </a:solidFill>
              </a:rPr>
              <a:t>GPU-accelerated SIMD string matching (AVX-512), and distributed cluster scaling with MPI.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2183</Words>
  <Application>Microsoft Office PowerPoint</Application>
  <PresentationFormat>Widescreen</PresentationFormat>
  <Paragraphs>177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Harshith Sirpuri</cp:lastModifiedBy>
  <cp:revision>1</cp:revision>
  <dcterms:created xsi:type="dcterms:W3CDTF">2013-01-27T09:14:16Z</dcterms:created>
  <dcterms:modified xsi:type="dcterms:W3CDTF">2026-10-17T05:05:09Z</dcterms:modified>
  <cp:category/>
</cp:coreProperties>
</file>